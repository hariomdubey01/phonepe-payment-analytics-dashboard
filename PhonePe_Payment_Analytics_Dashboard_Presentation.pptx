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23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7B3FC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0B899"/>
          </a:solidFill>
          <a:ln/>
        </p:spPr>
      </p:sp>
      <p:pic>
        <p:nvPicPr>
          <p:cNvPr id="4" name="Image 0" descr="/home/claude/phonep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685800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502920"/>
            <a:ext cx="274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BUSINESS INTELLIGENCE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517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PhonePe Payment Analytics Dashboard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 data into an interactive Power BI dashboard and business recommendations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Hariom Kumar Dubey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5120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| Power BI Developer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822960" y="58064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806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965960" y="580644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965960" y="580644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749040" y="58064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749040" y="5806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03520" y="5806440"/>
            <a:ext cx="96012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303520" y="5806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0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434840"/>
          </a:xfrm>
          <a:prstGeom prst="roundRect">
            <a:avLst>
              <a:gd name="adj" fmla="val 2474"/>
            </a:avLst>
          </a:prstGeom>
          <a:solidFill>
            <a:srgbClr val="F4EE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642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185416"/>
            <a:ext cx="91440" cy="914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48840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a synthetic PhonePe-inspired payment transaction dataset.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43784"/>
            <a:ext cx="91440" cy="914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807208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to monitor payment performance and customer behavior.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502152"/>
            <a:ext cx="91440" cy="914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65576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transaction volume, transaction value, payment status, services, demographics, and usage patterns.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160520"/>
            <a:ext cx="91440" cy="914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123944"/>
            <a:ext cx="58064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transaction data into KPIs, visual insights, and business recommendations.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4343400" cy="4434840"/>
          </a:xfrm>
          <a:prstGeom prst="roundRect">
            <a:avLst>
              <a:gd name="adj" fmla="val 2526"/>
            </a:avLst>
          </a:prstGeom>
          <a:solidFill>
            <a:srgbClr val="2B0F52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1737360"/>
            <a:ext cx="502920" cy="5029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229600" y="1737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89520" y="24688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B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 centralized dashboard for understanding payment performance and identifying opportunities for business improvement.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 &amp;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263640" cy="4434840"/>
          </a:xfrm>
          <a:prstGeom prst="roundRect">
            <a:avLst>
              <a:gd name="adj" fmla="val 2474"/>
            </a:avLst>
          </a:prstGeom>
          <a:solidFill>
            <a:srgbClr val="F4EE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1226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transaction volume and transaction value.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2715768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679192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payment success, failed, and pending transactions.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82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 segments.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813048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service-wise transaction performance.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416552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16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379976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monthly and weekday/weekend trends.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" y="4983480"/>
            <a:ext cx="347472" cy="347472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983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946904"/>
            <a:ext cx="5394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business recommendations.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40880" y="1463040"/>
            <a:ext cx="4572000" cy="4434840"/>
          </a:xfrm>
          <a:prstGeom prst="roundRect">
            <a:avLst>
              <a:gd name="adj" fmla="val 2474"/>
            </a:avLst>
          </a:prstGeom>
          <a:solidFill>
            <a:srgbClr val="2B0F52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16642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0920" y="2286000"/>
            <a:ext cx="54864" cy="502920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22128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3,00,000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43800" y="2551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60920" y="2999232"/>
            <a:ext cx="54864" cy="502920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1,07,658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54380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60920" y="3712464"/>
            <a:ext cx="54864" cy="502920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33" name="Text 31"/>
          <p:cNvSpPr/>
          <p:nvPr/>
        </p:nvSpPr>
        <p:spPr>
          <a:xfrm>
            <a:off x="7543800" y="3639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Dec 2024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543800" y="3977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Covered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4425696"/>
            <a:ext cx="54864" cy="502920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43525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43800" y="4690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Transactions &amp; Users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60920" y="51846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Type: Synthetic PhonePe-inspired dataset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0" cy="3913632"/>
          </a:xfrm>
          <a:prstGeom prst="line">
            <a:avLst/>
          </a:prstGeom>
          <a:noFill/>
          <a:ln w="38100">
            <a:solidFill>
              <a:srgbClr val="EAE0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45389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97964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979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194310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87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432304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76372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9763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921508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465576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655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3410712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954780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547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3899916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&amp; KPIs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443984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43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34440" y="4389120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933188"/>
            <a:ext cx="365760" cy="365760"/>
          </a:xfrm>
          <a:prstGeom prst="ellipse">
            <a:avLst/>
          </a:prstGeom>
          <a:solidFill>
            <a:srgbClr val="5F25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9331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878324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422392"/>
            <a:ext cx="365760" cy="365760"/>
          </a:xfrm>
          <a:prstGeom prst="ellipse">
            <a:avLst/>
          </a:prstGeom>
          <a:solidFill>
            <a:srgbClr val="00B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422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5367528"/>
            <a:ext cx="4480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03720" y="1508760"/>
            <a:ext cx="4709160" cy="4434840"/>
          </a:xfrm>
          <a:prstGeom prst="roundRect">
            <a:avLst>
              <a:gd name="adj" fmla="val 2474"/>
            </a:avLst>
          </a:prstGeom>
          <a:solidFill>
            <a:srgbClr val="2B0F52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17190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23760" y="2286000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680960" y="224942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23760" y="2889504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28895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28529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23760" y="3493008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1" name="Text 39"/>
          <p:cNvSpPr/>
          <p:nvPr/>
        </p:nvSpPr>
        <p:spPr>
          <a:xfrm>
            <a:off x="7223760" y="3493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34564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223760" y="4096512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40965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680960" y="4059936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calculations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7223760" y="4700016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7" name="Text 45"/>
          <p:cNvSpPr/>
          <p:nvPr/>
        </p:nvSpPr>
        <p:spPr>
          <a:xfrm>
            <a:off x="7223760" y="47000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80960" y="46634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223760" y="5303520"/>
            <a:ext cx="329184" cy="329184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50" name="Text 48"/>
          <p:cNvSpPr/>
          <p:nvPr/>
        </p:nvSpPr>
        <p:spPr>
          <a:xfrm>
            <a:off x="7223760" y="5303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680960" y="526694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PhonePe Payment Analytics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2039112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3,00,000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322576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12464" y="2039112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12464" y="2322576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86968" y="29443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12464" y="2660904"/>
            <a:ext cx="2496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2944368"/>
            <a:ext cx="2496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" y="55138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342900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1783080"/>
            <a:ext cx="3611879" cy="1508760"/>
          </a:xfrm>
          <a:prstGeom prst="roundRect">
            <a:avLst>
              <a:gd name="adj" fmla="val 6061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7443216" y="1920240"/>
            <a:ext cx="3941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Interactive Filters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43514" y="2542430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4" name="Text 22"/>
          <p:cNvSpPr/>
          <p:nvPr/>
        </p:nvSpPr>
        <p:spPr>
          <a:xfrm>
            <a:off x="7562088" y="2404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Month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43514" y="2920912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6" name="Text 24"/>
          <p:cNvSpPr/>
          <p:nvPr/>
        </p:nvSpPr>
        <p:spPr>
          <a:xfrm>
            <a:off x="7562088" y="2807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Payment Status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46720" y="3593592"/>
            <a:ext cx="3611880" cy="2880360"/>
          </a:xfrm>
          <a:prstGeom prst="roundRect">
            <a:avLst>
              <a:gd name="adj" fmla="val 3175"/>
            </a:avLst>
          </a:prstGeom>
          <a:solidFill>
            <a:srgbClr val="F4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373075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Visualizations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44719" y="4379777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0" name="Text 28"/>
          <p:cNvSpPr/>
          <p:nvPr/>
        </p:nvSpPr>
        <p:spPr>
          <a:xfrm>
            <a:off x="7562088" y="421538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Monthly Transaction Trends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44719" y="4786884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2" name="Text 30"/>
          <p:cNvSpPr/>
          <p:nvPr/>
        </p:nvSpPr>
        <p:spPr>
          <a:xfrm>
            <a:off x="7562088" y="461772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Service Performance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61218" y="5184449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4" name="Text 32"/>
          <p:cNvSpPr/>
          <p:nvPr/>
        </p:nvSpPr>
        <p:spPr>
          <a:xfrm>
            <a:off x="7562088" y="502005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Age Segment Analysis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61218" y="5554980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6" name="Text 34"/>
          <p:cNvSpPr/>
          <p:nvPr/>
        </p:nvSpPr>
        <p:spPr>
          <a:xfrm>
            <a:off x="7562088" y="54223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Weekday vs Weekend Analysis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161218" y="5957515"/>
            <a:ext cx="82296" cy="82296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8" name="Text 36"/>
          <p:cNvSpPr/>
          <p:nvPr/>
        </p:nvSpPr>
        <p:spPr>
          <a:xfrm>
            <a:off x="7574280" y="5824728"/>
            <a:ext cx="3919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Top Users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0EEE3FB-D9DB-7790-1B15-697F4D013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2" y="1677724"/>
            <a:ext cx="7074407" cy="44761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&amp; Analytical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4EE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 Value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0632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044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5204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20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5021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Rate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39776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77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959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Growth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4348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348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416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Growth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873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Service-wise Metrics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68680" y="5349240"/>
            <a:ext cx="310896" cy="310896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349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53309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Analysis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146304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2B0F5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Techniques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3680" y="219456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33" name="Text 31"/>
          <p:cNvSpPr/>
          <p:nvPr/>
        </p:nvSpPr>
        <p:spPr>
          <a:xfrm>
            <a:off x="6766560" y="219456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269748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35" name="Text 33"/>
          <p:cNvSpPr/>
          <p:nvPr/>
        </p:nvSpPr>
        <p:spPr>
          <a:xfrm>
            <a:off x="6766560" y="269748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320040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20040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83680" y="370332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70332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83680" y="420624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20624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83680" y="470916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470916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83680" y="5212080"/>
            <a:ext cx="4709160" cy="420624"/>
          </a:xfrm>
          <a:prstGeom prst="roundRect">
            <a:avLst>
              <a:gd name="adj" fmla="val 19565"/>
            </a:avLst>
          </a:prstGeom>
          <a:solidFill>
            <a:srgbClr val="7B3FC4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521208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Visualizations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₹3.47B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94560" y="1874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transaction value generated from ~3,00,000 transactions.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07208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+8.97%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94560" y="28072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transaction volume.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739896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3989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+8.98%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194560" y="373989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transaction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72584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194560" y="467258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 rate — strong payment reliability.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25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Usage Insights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874520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74.5%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09560" y="1874520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 value contributed by Gen X + Millennials.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807208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807208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909560" y="2807208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occurred on weekdays.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739896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739896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909560" y="3739896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transactions were UPI ID transfers.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672584"/>
            <a:ext cx="5394960" cy="841248"/>
          </a:xfrm>
          <a:prstGeom prst="roundRect">
            <a:avLst>
              <a:gd name="adj" fmla="val 10870"/>
            </a:avLst>
          </a:prstGeom>
          <a:solidFill>
            <a:srgbClr val="F4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672584"/>
            <a:ext cx="1463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72.9%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909560" y="4672584"/>
            <a:ext cx="35661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 value contributed by Loans.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645920"/>
            <a:ext cx="457200" cy="45720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53619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reduce the causes of failed transactions.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46304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9" name="Shape 7"/>
          <p:cNvSpPr/>
          <p:nvPr/>
        </p:nvSpPr>
        <p:spPr>
          <a:xfrm>
            <a:off x="6245352" y="1645920"/>
            <a:ext cx="457200" cy="45720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10" name="Text 8"/>
          <p:cNvSpPr/>
          <p:nvPr/>
        </p:nvSpPr>
        <p:spPr>
          <a:xfrm>
            <a:off x="6245352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153619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the user experience for high-value services such as Loans and Insurance.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2697480"/>
            <a:ext cx="457200" cy="45720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58775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campaigns to increase weekend transaction activity.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51460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17" name="Shape 15"/>
          <p:cNvSpPr/>
          <p:nvPr/>
        </p:nvSpPr>
        <p:spPr>
          <a:xfrm>
            <a:off x="6245352" y="2697480"/>
            <a:ext cx="457200" cy="45720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18" name="Text 16"/>
          <p:cNvSpPr/>
          <p:nvPr/>
        </p:nvSpPr>
        <p:spPr>
          <a:xfrm>
            <a:off x="6245352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0" y="258775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personalized strategies for high-value customer segments.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3749040"/>
            <a:ext cx="457200" cy="45720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363931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engagement among lower-contributing customer segments.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3566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4EE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245352" y="3749040"/>
            <a:ext cx="457200" cy="45720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3639312"/>
            <a:ext cx="4434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4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transaction growth and payment success KPIs regularly.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10881360" cy="1280160"/>
          </a:xfrm>
          <a:prstGeom prst="roundRect">
            <a:avLst>
              <a:gd name="adj" fmla="val 8571"/>
            </a:avLst>
          </a:prstGeom>
          <a:solidFill>
            <a:srgbClr val="2B0F52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6817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8680" y="50749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7B3FC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5074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Payment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00400" y="50749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56432" y="50749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7B3FC4"/>
          </a:solidFill>
          <a:ln/>
        </p:spPr>
      </p:sp>
      <p:sp>
        <p:nvSpPr>
          <p:cNvPr id="34" name="Text 32"/>
          <p:cNvSpPr/>
          <p:nvPr/>
        </p:nvSpPr>
        <p:spPr>
          <a:xfrm>
            <a:off x="3456432" y="5074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Customer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788152" y="50749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44184" y="50749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7B3FC4"/>
          </a:solidFill>
          <a:ln/>
        </p:spPr>
      </p:sp>
      <p:sp>
        <p:nvSpPr>
          <p:cNvPr id="37" name="Text 35"/>
          <p:cNvSpPr/>
          <p:nvPr/>
        </p:nvSpPr>
        <p:spPr>
          <a:xfrm>
            <a:off x="6044184" y="5074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75904" y="5074920"/>
            <a:ext cx="256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31936" y="5074920"/>
            <a:ext cx="2331720" cy="594360"/>
          </a:xfrm>
          <a:prstGeom prst="roundRect">
            <a:avLst>
              <a:gd name="adj" fmla="val 12308"/>
            </a:avLst>
          </a:prstGeom>
          <a:solidFill>
            <a:srgbClr val="7B3FC4"/>
          </a:solidFill>
          <a:ln/>
        </p:spPr>
      </p:sp>
      <p:sp>
        <p:nvSpPr>
          <p:cNvPr id="40" name="Text 38"/>
          <p:cNvSpPr/>
          <p:nvPr/>
        </p:nvSpPr>
        <p:spPr>
          <a:xfrm>
            <a:off x="8631936" y="5074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Business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2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F4EE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1C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10312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210312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210312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65176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51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2651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2651760"/>
            <a:ext cx="3429000" cy="438912"/>
          </a:xfrm>
          <a:prstGeom prst="roundRect">
            <a:avLst>
              <a:gd name="adj" fmla="val 50000"/>
            </a:avLst>
          </a:prstGeom>
          <a:solidFill>
            <a:srgbClr val="5F259F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651760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10881360" cy="2423160"/>
          </a:xfrm>
          <a:prstGeom prst="roundRect">
            <a:avLst>
              <a:gd name="adj" fmla="val 4528"/>
            </a:avLst>
          </a:prstGeom>
          <a:solidFill>
            <a:srgbClr val="2B0F5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685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Skills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8680" y="4187952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34440" y="41605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4187952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41605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09560" y="4187952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27" name="Text 25"/>
          <p:cNvSpPr/>
          <p:nvPr/>
        </p:nvSpPr>
        <p:spPr>
          <a:xfrm>
            <a:off x="7909560" y="4187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4160520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4663440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4440" y="46360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Analysis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4663440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4880" y="46360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09560" y="4663440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4663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75320" y="4636008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5138928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5138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234440" y="511149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89120" y="5138928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0" y="5138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54880" y="511149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09560" y="5138928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5" name="Text 43"/>
          <p:cNvSpPr/>
          <p:nvPr/>
        </p:nvSpPr>
        <p:spPr>
          <a:xfrm>
            <a:off x="7909560" y="5138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75320" y="5111496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" y="5614416"/>
            <a:ext cx="274320" cy="27432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56144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234440" y="5586984"/>
            <a:ext cx="3063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Payment Analytics Dashboard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0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B3FC4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4572000" cy="4572000"/>
          </a:xfrm>
          <a:prstGeom prst="ellipse">
            <a:avLst/>
          </a:prstGeom>
          <a:solidFill>
            <a:srgbClr val="00B89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B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929384"/>
            <a:ext cx="54864" cy="292608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874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PhonePe Payment Analytics Dashboard using Excel, Power Query, Power BI, and DAX.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04872"/>
            <a:ext cx="54864" cy="292608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35000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300K transactions across 107K+ users.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54864" cy="292608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82549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key patterns in payment performance, customer segments, service categories, and transaction behavior.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54864" cy="292608"/>
          </a:xfrm>
          <a:prstGeom prst="rect">
            <a:avLst/>
          </a:prstGeom>
          <a:solidFill>
            <a:srgbClr val="00B89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0098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BE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analytical findings into actionable business recommendations.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10104120" cy="914400"/>
          </a:xfrm>
          <a:prstGeom prst="roundRect">
            <a:avLst>
              <a:gd name="adj" fmla="val 12000"/>
            </a:avLst>
          </a:prstGeom>
          <a:solidFill>
            <a:srgbClr val="7B3FC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3708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strengthened my ability to transform raw data into interactive dashboards and translate business data into actionable insights.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5257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Hariom Kumar Dubey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B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| Power BI Developer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695</Words>
  <Application>Microsoft Office PowerPoint</Application>
  <PresentationFormat>Widescreen</PresentationFormat>
  <Paragraphs>231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Hariom Kumar Dubey</cp:lastModifiedBy>
  <cp:revision>2</cp:revision>
  <dcterms:created xsi:type="dcterms:W3CDTF">2026-08-08T12:00:49Z</dcterms:created>
  <dcterms:modified xsi:type="dcterms:W3CDTF">2026-08-08T12:12:25Z</dcterms:modified>
</cp:coreProperties>
</file>